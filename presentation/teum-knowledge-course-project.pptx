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0dee1c0f31b4e92" /><Relationship Type="http://schemas.openxmlformats.org/officeDocument/2006/relationships/extended-properties" Target="/docProps/app.xml" Id="Reca48c6917044151" /><Relationship Type="http://schemas.openxmlformats.org/officeDocument/2006/relationships/officeDocument" Target="/ppt/presentation.xml" Id="R370d8d28c8c64ab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8550780c89b47ea"/>
  </p:sldMasterIdLst>
  <p:notesMasterIdLst>
    <p:notesMasterId xmlns:r="http://schemas.openxmlformats.org/officeDocument/2006/relationships" r:id="R182dfa0e504e4ad5"/>
  </p:notesMasterIdLst>
  <p:sldIdLst>
    <p:sldId xmlns:r="http://schemas.openxmlformats.org/officeDocument/2006/relationships" id="256" r:id="R4f733c00b1a94537"/>
    <p:sldId xmlns:r="http://schemas.openxmlformats.org/officeDocument/2006/relationships" id="257" r:id="R4b80470333c6410c"/>
    <p:sldId xmlns:r="http://schemas.openxmlformats.org/officeDocument/2006/relationships" id="258" r:id="R7324fe52cb784c02"/>
    <p:sldId xmlns:r="http://schemas.openxmlformats.org/officeDocument/2006/relationships" id="259" r:id="Rf17c4db9b9054694"/>
    <p:sldId xmlns:r="http://schemas.openxmlformats.org/officeDocument/2006/relationships" id="260" r:id="Ra64e2dba151644ba"/>
    <p:sldId xmlns:r="http://schemas.openxmlformats.org/officeDocument/2006/relationships" id="261" r:id="Rb04a980772904711"/>
    <p:sldId xmlns:r="http://schemas.openxmlformats.org/officeDocument/2006/relationships" id="262" r:id="R99be631f3406412c"/>
    <p:sldId xmlns:r="http://schemas.openxmlformats.org/officeDocument/2006/relationships" id="263" r:id="Rd99b631f074740e1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02ce6ebd49040cc" /><Relationship Type="http://schemas.openxmlformats.org/officeDocument/2006/relationships/slideMaster" Target="/ppt/slideMasters/slideMaster1.xml" Id="Re8550780c89b47ea" /><Relationship Type="http://schemas.openxmlformats.org/officeDocument/2006/relationships/notesMaster" Target="/ppt/notesMasters/notesMaster1.xml" Id="R182dfa0e504e4ad5" /><Relationship Type="http://schemas.openxmlformats.org/officeDocument/2006/relationships/presProps" Target="/ppt/presProps.xml" Id="R9be01c56793145ef" /><Relationship Type="http://schemas.openxmlformats.org/officeDocument/2006/relationships/tableStyles" Target="/ppt/tableStyles.xml" Id="Rb72743b4462e4769" /><Relationship Type="http://schemas.openxmlformats.org/officeDocument/2006/relationships/slide" Target="/ppt/slides/slide1.xml" Id="R4f733c00b1a94537" /><Relationship Type="http://schemas.openxmlformats.org/officeDocument/2006/relationships/slide" Target="/ppt/slides/slide2.xml" Id="R4b80470333c6410c" /><Relationship Type="http://schemas.openxmlformats.org/officeDocument/2006/relationships/slide" Target="/ppt/slides/slide3.xml" Id="R7324fe52cb784c02" /><Relationship Type="http://schemas.openxmlformats.org/officeDocument/2006/relationships/slide" Target="/ppt/slides/slide4.xml" Id="Rf17c4db9b9054694" /><Relationship Type="http://schemas.openxmlformats.org/officeDocument/2006/relationships/slide" Target="/ppt/slides/slide5.xml" Id="Ra64e2dba151644ba" /><Relationship Type="http://schemas.openxmlformats.org/officeDocument/2006/relationships/slide" Target="/ppt/slides/slide6.xml" Id="Rb04a980772904711" /><Relationship Type="http://schemas.openxmlformats.org/officeDocument/2006/relationships/slide" Target="/ppt/slides/slide7.xml" Id="R99be631f3406412c" /><Relationship Type="http://schemas.openxmlformats.org/officeDocument/2006/relationships/slide" Target="/ppt/slides/slide8.xml" Id="Rd99b631f074740e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98d0017d92b415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389ebf2063d4027" /><Relationship Type="http://schemas.openxmlformats.org/officeDocument/2006/relationships/notesMaster" Target="/ppt/notesMasters/notesMaster1.xml" Id="R0b6bbe924c0040e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97ec1ae1a6184d8d" /><Relationship Type="http://schemas.openxmlformats.org/officeDocument/2006/relationships/notesMaster" Target="/ppt/notesMasters/notesMaster1.xml" Id="R28d4f26e154c456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4d7b45292244f7b" /><Relationship Type="http://schemas.openxmlformats.org/officeDocument/2006/relationships/notesMaster" Target="/ppt/notesMasters/notesMaster1.xml" Id="Re64b836f36464b3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a3cc80e9473146e6" /><Relationship Type="http://schemas.openxmlformats.org/officeDocument/2006/relationships/notesMaster" Target="/ppt/notesMasters/notesMaster1.xml" Id="Ra5ed67655e4a485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11cbdb6bbb3454d" /><Relationship Type="http://schemas.openxmlformats.org/officeDocument/2006/relationships/notesMaster" Target="/ppt/notesMasters/notesMaster1.xml" Id="R04b256d7182d47e7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9bbbd8dc42b49fc" /><Relationship Type="http://schemas.openxmlformats.org/officeDocument/2006/relationships/notesMaster" Target="/ppt/notesMasters/notesMaster1.xml" Id="R806bafacacaa44bb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2f4daa41e01746b5" /><Relationship Type="http://schemas.openxmlformats.org/officeDocument/2006/relationships/notesMaster" Target="/ppt/notesMasters/notesMaster1.xml" Id="Ref29e70efc664a1c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ae13fc11ed4d4359" /><Relationship Type="http://schemas.openxmlformats.org/officeDocument/2006/relationships/notesMaster" Target="/ppt/notesMasters/notesMaster1.xml" Id="R470a14b5e7fa4c1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개인 프로젝트. 2026-10-19 구현 기준. 근거: README.md, docs/PROJECT_PROPOSAL.md.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근거: docs/PROJECT_PROPOSAL.md, docs/V4_FIXES.md. 오른쪽 이미지는 API36 V4 화면 검증 캡처다.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근거: README.md, docs/ARCHITECTURE.md. 위젯 이미지는 개발 중 실제 Android 캡처이며 기본 콘텐츠 예시다.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근거: docs/PLAN_V4.md, docs/ARCHITECTURE.md, docs/VERIFICATION.md.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근거: docs/PROJECT_PROPOSAL.md, docs/ARCHITECTURE.md, docs/PLAN_V4.md. 기술 요소는 구현 대응이며 과제 인정 여부를 단정하지 않는다.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근거: docs/ARCHITECTURE.md, docs/SIWC_STATUS.md, docs/REQUIREMENTS.md.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158 Jest는 2026-10-19 V4.UX1 WORK_LOG. Kotlin 35+17=52는 V4.FIX 재실행 기록. APK는 2026-10-19 시연용 arm64 release, debug key 서명. 근거: docs/WORK_LOG.md, docs/VERIFICATION.md.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근거: docs/INSTALL.md, docs/BUILD.md, docs/WORK_LOG.md, docs/VERIFICATION.md. 시연용 APK의 단축 규칙을 일반 배포 검증으로 혼동하지 않는다.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1ccc69b3eae4fa0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f594de1f38f4df9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883895c0c8d4c29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8fa553d24fe4e94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5c4a8c5c8ef4b2a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e478ec05f8b416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B939458C-CD32-45A6-8154-C2FF9ED3E57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51C61951-3FBC-41C2-AAA4-866416BD2EDF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23B4FE44-92DC-4F36-93DD-1847D36D92A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07F4EA10-E287-450F-9B22-FBC7B387A48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36E860AA-7AE5-49FA-A505-EF4BA11E8F9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2BED0441-A279-4EE2-9809-1C2154C34B6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C744C59E-C1F0-46BF-B921-CEB4B945D43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06C1FA9D-6FCE-4DAA-9F8C-0D6752F3D983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DC6EB67C-D019-4801-84C6-400DD171C8C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D5DA253F-BB57-422D-AEED-F8D10A333BA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bbcce1d6e554998" /><Relationship Type="http://schemas.openxmlformats.org/officeDocument/2006/relationships/slideLayout" Target="/ppt/slideLayouts/slideLayout1.xml" Id="R8a7860e20a9645f4" /><Relationship Type="http://schemas.openxmlformats.org/officeDocument/2006/relationships/slideLayout" Target="/ppt/slideLayouts/slideLayout2.xml" Id="R64e5eed97e014863" /><Relationship Type="http://schemas.openxmlformats.org/officeDocument/2006/relationships/slideLayout" Target="/ppt/slideLayouts/slideLayout3.xml" Id="Rb3c8af4ee91c47f1" /><Relationship Type="http://schemas.openxmlformats.org/officeDocument/2006/relationships/slideLayout" Target="/ppt/slideLayouts/slideLayout4.xml" Id="Re32922b6ee5c4908" /><Relationship Type="http://schemas.openxmlformats.org/officeDocument/2006/relationships/slideLayout" Target="/ppt/slideLayouts/slideLayout5.xml" Id="Radb5c233963940e8" /><Relationship Type="http://schemas.openxmlformats.org/officeDocument/2006/relationships/slideLayout" Target="/ppt/slideLayouts/slideLayout6.xml" Id="Ra2bdd9058d9f4033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a7860e20a9645f4"/>
    <p:sldLayoutId xmlns:r="http://schemas.openxmlformats.org/officeDocument/2006/relationships" id="2147483650" r:id="R64e5eed97e014863"/>
    <p:sldLayoutId xmlns:r="http://schemas.openxmlformats.org/officeDocument/2006/relationships" id="2147483651" r:id="Rb3c8af4ee91c47f1"/>
    <p:sldLayoutId xmlns:r="http://schemas.openxmlformats.org/officeDocument/2006/relationships" id="2147483652" r:id="Re32922b6ee5c4908"/>
    <p:sldLayoutId xmlns:r="http://schemas.openxmlformats.org/officeDocument/2006/relationships" id="2147483653" r:id="Radb5c233963940e8"/>
    <p:sldLayoutId xmlns:r="http://schemas.openxmlformats.org/officeDocument/2006/relationships" id="2147483654" r:id="Ra2bdd9058d9f403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9138720b89043e5" /><Relationship Type="http://schemas.openxmlformats.org/officeDocument/2006/relationships/image" Target="/ppt/media/image.png" Id="Rf1ab48404ff84723" /><Relationship Type="http://schemas.openxmlformats.org/officeDocument/2006/relationships/notesSlide" Target="/ppt/notesSlides/notesSlide1.xml" Id="R533182f38bc2431a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f1b09a773fb4c67" /><Relationship Type="http://schemas.openxmlformats.org/officeDocument/2006/relationships/image" Target="/ppt/media/image2.png" Id="Raefaae847bf24a3e" /><Relationship Type="http://schemas.openxmlformats.org/officeDocument/2006/relationships/notesSlide" Target="/ppt/notesSlides/notesSlide2.xml" Id="R77156ff2dde8483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5d1a22a597244a7" /><Relationship Type="http://schemas.openxmlformats.org/officeDocument/2006/relationships/image" Target="/ppt/media/image3.png" Id="R48dc41ca6ff04440" /><Relationship Type="http://schemas.openxmlformats.org/officeDocument/2006/relationships/notesSlide" Target="/ppt/notesSlides/notesSlide3.xml" Id="Rf51f06ebefc345b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d509a04194945f5" /><Relationship Type="http://schemas.openxmlformats.org/officeDocument/2006/relationships/notesSlide" Target="/ppt/notesSlides/notesSlide4.xml" Id="R8a29bd4b61894fcd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d442ae55d31435f" /><Relationship Type="http://schemas.openxmlformats.org/officeDocument/2006/relationships/notesSlide" Target="/ppt/notesSlides/notesSlide5.xml" Id="R2026c6c51a1f433a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bc7749d775840da" /><Relationship Type="http://schemas.openxmlformats.org/officeDocument/2006/relationships/notesSlide" Target="/ppt/notesSlides/notesSlide6.xml" Id="R2b03dd6c42a54bad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97754f4275e4c42" /><Relationship Type="http://schemas.openxmlformats.org/officeDocument/2006/relationships/notesSlide" Target="/ppt/notesSlides/notesSlide7.xml" Id="R234da2a126ba4dcc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433ea7122f64924" /><Relationship Type="http://schemas.openxmlformats.org/officeDocument/2006/relationships/notesSlide" Target="/ppt/notesSlides/notesSlide8.xml" Id="R090abfc062ed4f08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2151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F5035F1-54C6-4DA5-8DAC-61BBDC347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714500"/>
            <a:ext cx="70485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5700" b="1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5700" b="1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5700" b="1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5700" b="1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5700" b="1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5700" b="1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5700" b="1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5700" b="1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5700" b="1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5700" b="1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5700" b="1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5700" b="1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rPr>
              <a:t>틈지식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74DC6B5-7090-463E-B27B-550FAB2C8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809875"/>
            <a:ext cx="733425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625" b="0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625" b="0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625" b="0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625" b="0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625" b="0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625" b="0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625" b="0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625" b="0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625" b="0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625" b="0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625" b="0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625" b="0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rPr>
              <a:t>잠깐의 틈에 스치는 기초지식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A74FD0B-A868-49A4-9765-5DBAFDB67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238750"/>
            <a:ext cx="7524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800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800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800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800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800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800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800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800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800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800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rPr>
              <a:t>SIWC 기반 Android 학습 앱 · V4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2300A44-A73E-4F83-A0B4-02DB437A5C1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1ab48404ff84723"/>
          <a:stretch xmlns:a="http://schemas.openxmlformats.org/drawingml/2006/main"/>
        </p:blipFill>
        <p:spPr>
          <a:xfrm xmlns:a="http://schemas.openxmlformats.org/drawingml/2006/main">
            <a:off x="8696325" y="1676400"/>
            <a:ext cx="2095500" cy="20955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205569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6F8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6FB4675-E1E2-40D1-91BE-36E7828C8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"/>
            <a:ext cx="10820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rPr>
              <a:t>문제와 대상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C9B9740-BBB0-4914-BBA3-917C7A8AF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33475"/>
            <a:ext cx="10820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rPr>
              <a:t>자격증 기초를 시작하려는 Android 사용자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BE00F68-6C7F-42CE-8093-DA24C8C80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05000"/>
            <a:ext cx="6667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925" b="1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925" b="1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925" b="1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925" b="1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925" b="1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925" b="1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925" b="1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925" b="1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925" b="1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925" b="1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925" b="1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925" b="1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rPr>
              <a:t>긴 공부 시간을 매일 확보하기 어렵다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05596D3-758A-4C79-BE21-1CE2A4192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47975"/>
            <a:ext cx="6477000" cy="150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175" b="0">
                <a:solidFill>
                  <a:srgbClr val="52645B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175" b="0">
                <a:solidFill>
                  <a:srgbClr val="52645B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175" b="0">
                <a:solidFill>
                  <a:srgbClr val="52645B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175" b="0">
                <a:solidFill>
                  <a:srgbClr val="52645B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175" b="0">
                <a:solidFill>
                  <a:srgbClr val="52645B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175" b="0">
                <a:solidFill>
                  <a:srgbClr val="52645B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175" b="0">
                <a:solidFill>
                  <a:srgbClr val="52645B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175" b="0">
                <a:solidFill>
                  <a:srgbClr val="52645B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175" b="0">
                <a:solidFill>
                  <a:srgbClr val="52645B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175" b="0">
                <a:solidFill>
                  <a:srgbClr val="52645B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175" b="0">
                <a:solidFill>
                  <a:srgbClr val="52645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0">
                <a:solidFill>
                  <a:srgbClr val="52645B"/>
                </a:solidFill>
                <a:latin typeface="Apple SD Gothic Neo"/>
                <a:ea typeface="Apple SD Gothic Neo"/>
                <a:cs typeface="Apple SD Gothic Neo"/>
              </a:rPr>
              <a:t>잠깐의 빈 시간에는 쉬운 개념을 스치고</a:t>
            </a:r>
          </a:p>
          <a:p xmlns:a="http://schemas.openxmlformats.org/drawingml/2006/main">
            <a:pPr algn="l">
              <a:defRPr sz="2175" b="0">
                <a:solidFill>
                  <a:srgbClr val="52645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0">
                <a:solidFill>
                  <a:srgbClr val="52645B"/>
                </a:solidFill>
                <a:latin typeface="Apple SD Gothic Neo"/>
                <a:ea typeface="Apple SD Gothic Neo"/>
                <a:cs typeface="Apple SD Gothic Neo"/>
              </a:rPr>
              <a:t>앱을 열었을 때 상황형 문제로 확인한다.</a:t>
            </a:r>
          </a:p>
        </p:txBody>
      </p:sp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4517F7B-8F03-4CC0-9005-9DF7B636434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efaae847bf24a3e"/>
          <a:stretch xmlns:a="http://schemas.openxmlformats.org/drawingml/2006/main"/>
        </p:blipFill>
        <p:spPr>
          <a:xfrm xmlns:a="http://schemas.openxmlformats.org/drawingml/2006/main">
            <a:off x="8642033" y="1638300"/>
            <a:ext cx="2023110" cy="44958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825636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E8F0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03FCEB9-9941-4B37-B4BA-FCDDEE549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"/>
            <a:ext cx="10820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rPr>
              <a:t>두 층의 학습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FC6C38E-F7D1-4004-B985-F2F781A30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33475"/>
            <a:ext cx="10820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rPr>
              <a:t>잠금 화면·위젯과 앱 문제가 같은 기록으로 연결된다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35A77B2-A831-4526-AFF0-377FFD215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62125"/>
            <a:ext cx="209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250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250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250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250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250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250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250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250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250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250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rPr>
              <a:t>앱 밖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B001593-C6D4-473D-BF38-B9B658BC1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57425"/>
            <a:ext cx="44767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rPr>
              <a:t>무음 O/X 카드와 크기별 홈 위젯</a:t>
            </a:r>
          </a:p>
          <a:p xmlns:a="http://schemas.openxmlformats.org/drawingml/2006/main">
            <a:pPr algn="l"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rPr>
              <a:t>짧은 응답이 학습 기록에 남는다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B70C7C9-4AFB-4B6B-A324-61EABECE5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1762125"/>
            <a:ext cx="209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250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250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250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250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250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250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250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250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250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250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rPr>
              <a:t>앱 안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54E14AC-9BE5-44D3-AC0F-D1FA1466F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257425"/>
            <a:ext cx="48577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rPr>
              <a:t>하루 3·5·10문제, 다시 풀기, 개념 설명</a:t>
            </a:r>
          </a:p>
          <a:p xmlns:a="http://schemas.openxmlformats.org/drawingml/2006/main">
            <a:pPr algn="l"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rPr>
              <a:t>해상도와 복습 순서가 바뀐다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513BC75-2561-49AA-82E6-8FDE6113169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8dc41ca6ff04440"/>
          <a:stretch xmlns:a="http://schemas.openxmlformats.org/drawingml/2006/main"/>
        </p:blipFill>
        <p:spPr>
          <a:xfrm xmlns:a="http://schemas.openxmlformats.org/drawingml/2006/main">
            <a:off x="2083522" y="3286125"/>
            <a:ext cx="8024955" cy="319087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516468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12151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709711C-8733-41B8-8684-B7BC2037D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"/>
            <a:ext cx="10820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850" b="1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850" b="1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850" b="1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850" b="1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850" b="1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850" b="1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850" b="1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850" b="1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850" b="1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850" b="1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850" b="1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850" b="1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rPr>
              <a:t>AI 맞춤 학습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5738CAD-3B8C-4177-A5C2-317C367F7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33475"/>
            <a:ext cx="10820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575" b="0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575" b="0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575" b="0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575" b="0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575" b="0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575" b="0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575" b="0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575" b="0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575" b="0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575" b="0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rPr>
              <a:t>연결과 동의가 있을 때만 실행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3F23783-0441-4052-8B84-1B4BAF420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905000"/>
            <a:ext cx="857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31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31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31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31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31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31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31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31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31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31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31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1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rPr>
              <a:t>01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4899AA8-A308-4E51-9699-ED86ACAD1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1905000"/>
            <a:ext cx="9620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1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1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1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1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1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1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1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1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1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1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1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rPr>
              <a:t>오답·완료된 대화에서 헷갈림의 근거를 찾는다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CFFAA61-D07D-4D46-A969-DA0EC10A7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19400"/>
            <a:ext cx="857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31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31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31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31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31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31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31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31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31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31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31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1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rPr>
              <a:t>02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45D749A-26FA-4ABD-A8C5-F304F7F6A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2819400"/>
            <a:ext cx="9620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1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1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1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1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1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1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1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1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1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1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1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rPr>
              <a:t>SQLite에 개념별 헷갈림을 저장한다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131C6A3-BFAB-48B6-A363-6E425D72E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733800"/>
            <a:ext cx="857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31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31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31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31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31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31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31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31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31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31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31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1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rPr>
              <a:t>03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17E5A9D-306D-4163-8EA5-306651583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3733800"/>
            <a:ext cx="9620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1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1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1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1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1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1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1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1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1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1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1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rPr>
              <a:t>승인된 사실로 O/X 카드를 만들고 별도 검토한다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42AC722-18E4-42B2-90CE-EB81BE7C2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648200"/>
            <a:ext cx="857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31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31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31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31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31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31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31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31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31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31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31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1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rPr>
              <a:t>04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3D3607F-B145-4822-B2DF-2030DF0DB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4648200"/>
            <a:ext cx="9620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1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1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1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1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1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1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1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1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1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1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1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rPr>
              <a:t>카드 응답 뒤 다른 상황의 문제로 다시 확인한다</a:t>
            </a:r>
          </a:p>
        </p:txBody>
      </p:sp>
    </p:spTree>
    <p:extLst>
      <p:ext uri="{BB962C8B-B14F-4D97-AF65-F5344CB8AC3E}">
        <p14:creationId xmlns:p14="http://schemas.microsoft.com/office/powerpoint/2010/main" val="77866884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6F8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95F1379-8C37-4D77-8E20-F9D7A158C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"/>
            <a:ext cx="10820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rPr>
              <a:t>두 기술 요소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F26975A-6853-4B49-A9F8-A6F16D188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33475"/>
            <a:ext cx="10820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rPr>
              <a:t>저장한 정보가 다음 행동을 바꾼다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8A31EAA-ED1E-4EED-9EF0-83F2115B5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838325"/>
            <a:ext cx="4953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7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7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7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7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7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7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7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7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7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7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7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7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rPr>
              <a:t>Long-term Memory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3457B85-6812-4092-9BCE-31E35689C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552700"/>
            <a:ext cx="4953000" cy="1914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875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875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875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875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875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875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875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875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875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875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rPr>
              <a:t>근거가 있는 헷갈림과 상태를</a:t>
            </a:r>
          </a:p>
          <a:p xmlns:a="http://schemas.openxmlformats.org/drawingml/2006/main">
            <a:pPr algn="l">
              <a:defRPr sz="1875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rPr>
              <a:t>학습자·과목·개념별로 보존한다.</a:t>
            </a:r>
          </a:p>
          <a:p xmlns:a="http://schemas.openxmlformats.org/drawingml/2006/main">
            <a:pPr algn="l">
              <a:defRPr sz="1875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rPr>
              <a:t>다음 카드와 7일 계획에 재사용한다.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5FD05D9-A376-4CE5-991A-8B0FDDFEE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5575" y="1838325"/>
            <a:ext cx="4953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7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7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7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7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7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7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7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7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7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7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7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7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rPr>
              <a:t>자동화 워크플로우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DD44F46-3A05-4F0F-9511-703AE63A7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5575" y="2552700"/>
            <a:ext cx="4953000" cy="1914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875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875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875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875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875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875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875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875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875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875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rPr>
              <a:t>기록 수집과 AI 생성·검토를</a:t>
            </a:r>
          </a:p>
          <a:p xmlns:a="http://schemas.openxmlformats.org/drawingml/2006/main">
            <a:pPr algn="l">
              <a:defRPr sz="1875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rPr>
              <a:t>Kotlin 카드 덱, 응답 수집,</a:t>
            </a:r>
          </a:p>
          <a:p xmlns:a="http://schemas.openxmlformats.org/drawingml/2006/main">
            <a:pPr algn="l">
              <a:defRPr sz="1875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rPr>
              <a:t>확인 문제·메모리 갱신에 연결한다.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5D7A85E-2028-4B28-AA07-8EFAC991C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267325"/>
            <a:ext cx="107156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650" b="0">
                <a:solidFill>
                  <a:srgbClr val="52645B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650" b="0">
                <a:solidFill>
                  <a:srgbClr val="52645B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650" b="0">
                <a:solidFill>
                  <a:srgbClr val="52645B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650" b="0">
                <a:solidFill>
                  <a:srgbClr val="52645B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650" b="0">
                <a:solidFill>
                  <a:srgbClr val="52645B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650" b="0">
                <a:solidFill>
                  <a:srgbClr val="52645B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650" b="0">
                <a:solidFill>
                  <a:srgbClr val="52645B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650" b="0">
                <a:solidFill>
                  <a:srgbClr val="52645B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650" b="0">
                <a:solidFill>
                  <a:srgbClr val="52645B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650" b="0">
                <a:solidFill>
                  <a:srgbClr val="52645B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650" b="0">
                <a:solidFill>
                  <a:srgbClr val="52645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52645B"/>
                </a:solidFill>
                <a:latin typeface="Apple SD Gothic Neo"/>
                <a:ea typeface="Apple SD Gothic Neo"/>
                <a:cs typeface="Apple SD Gothic Neo"/>
              </a:rPr>
              <a:t>원래 규칙: 카드 응답 24시간 뒤, 다른 날짜에 확인 문제</a:t>
            </a:r>
          </a:p>
        </p:txBody>
      </p:sp>
    </p:spTree>
    <p:extLst>
      <p:ext uri="{BB962C8B-B14F-4D97-AF65-F5344CB8AC3E}">
        <p14:creationId xmlns:p14="http://schemas.microsoft.com/office/powerpoint/2010/main" val="185934295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E8F0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934985C-A0D5-4601-839C-5BB749BC1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"/>
            <a:ext cx="10820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rPr>
              <a:t>구조와 보호 장치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C3AFDDB-05C6-45B3-BA3E-DC919AF85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33475"/>
            <a:ext cx="10820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rPr>
              <a:t>화면, 학습 데이터, Android 기능의 책임을 나눴다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94F91DD-05F7-4894-A0DE-81EF06C66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38325"/>
            <a:ext cx="32480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1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1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1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1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1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1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1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1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1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1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rPr>
              <a:t>React Native · Expo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E4091F1-F571-40CA-B34B-3310E7460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28875"/>
            <a:ext cx="3248025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rPr>
              <a:t>화면, 문제, 복습 계산</a:t>
            </a:r>
          </a:p>
          <a:p xmlns:a="http://schemas.openxmlformats.org/drawingml/2006/main">
            <a:pPr algn="l"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rPr>
              <a:t>AI 요청 조정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0619018-9041-4738-BB54-74916FD6A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1838325"/>
            <a:ext cx="2762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1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1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1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1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1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1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1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1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1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1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rPr>
              <a:t>SQLite v6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64C640F-8438-4486-A91A-66E333566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428875"/>
            <a:ext cx="27622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rPr>
              <a:t>학습 진도·근거 메모리</a:t>
            </a:r>
          </a:p>
          <a:p xmlns:a="http://schemas.openxmlformats.org/drawingml/2006/main">
            <a:pPr algn="l"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rPr>
              <a:t>멱등 제출과 복구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F54BB5F-5D46-420B-B341-4747468C2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4775" y="1838325"/>
            <a:ext cx="3771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1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1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1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1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1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1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1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1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1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1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rPr>
              <a:t>Kotlin 모듈 2개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13B6DE0-D4B7-4DD2-8B10-7D1E129AB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4775" y="2428875"/>
            <a:ext cx="37719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rPr>
              <a:t>SIWC·Keystore·SSE</a:t>
            </a:r>
          </a:p>
          <a:p xmlns:a="http://schemas.openxmlformats.org/drawingml/2006/main">
            <a:pPr algn="l">
              <a:def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rPr>
              <a:t>잠금 화면 카드·홈 위젯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74E6E4C-22B8-4C87-A291-8496355E8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010150"/>
            <a:ext cx="107442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950" b="1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950" b="1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950" b="1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950" b="1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950" b="1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950" b="1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950" b="1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950" b="1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950" b="1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950" b="1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rPr>
              <a:t>AI 생성 표시 · 근거 확인 · 숨기기·삭제</a:t>
            </a:r>
          </a:p>
        </p:txBody>
      </p:sp>
    </p:spTree>
    <p:extLst>
      <p:ext uri="{BB962C8B-B14F-4D97-AF65-F5344CB8AC3E}">
        <p14:creationId xmlns:p14="http://schemas.microsoft.com/office/powerpoint/2010/main" val="1478312240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12151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8071DDC-DF12-484C-9D9F-4598D765F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"/>
            <a:ext cx="10820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850" b="1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850" b="1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850" b="1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850" b="1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850" b="1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850" b="1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850" b="1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850" b="1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850" b="1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850" b="1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850" b="1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850" b="1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rPr>
              <a:t>구현과 검증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985F68B-28B7-4017-BB02-D20D720C3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33475"/>
            <a:ext cx="10820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575" b="0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575" b="0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575" b="0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575" b="0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575" b="0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575" b="0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575" b="0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575" b="0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575" b="0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575" b="0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rPr>
              <a:t>검증 범위를 나눠 기록했다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68485E3-6724-4FCF-9411-B8ACB28E8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962150"/>
            <a:ext cx="3238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73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73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73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73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73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73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73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73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73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73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73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3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rPr>
              <a:t>158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8185C00-8671-405C-9FE8-C57C03B7D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276600"/>
            <a:ext cx="3048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100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100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100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100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100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100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100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100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100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100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rPr>
              <a:t>Jest 통과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D51CE67-608B-45A5-A255-D11264B02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1962150"/>
            <a:ext cx="3048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73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73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73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73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73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73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73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73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73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73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73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3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rPr>
              <a:t>52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E02AF86-A302-46A8-A846-3EA4787BE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2475" y="3276600"/>
            <a:ext cx="3048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100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100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100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100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100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100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100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100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100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100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rPr>
              <a:t>Kotlin/JUnit 확인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9D8192B-EEC4-4295-878D-FFE7F87B1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1962150"/>
            <a:ext cx="3429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58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58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58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58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58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58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58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58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58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58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58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5850" b="1">
                <a:solidFill>
                  <a:srgbClr val="78DEB6"/>
                </a:solidFill>
                <a:latin typeface="Apple SD Gothic Neo"/>
                <a:ea typeface="Apple SD Gothic Neo"/>
                <a:cs typeface="Apple SD Gothic Neo"/>
              </a:rPr>
              <a:t>APK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0DC92A6-6609-4BD5-A691-561A8D9E3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3276600"/>
            <a:ext cx="3333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800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800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800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800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800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800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800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800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800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800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rPr>
              <a:t>Metro 없이 API36 실행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12977C6-D390-404C-A976-DAE51836C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953000"/>
            <a:ext cx="1071562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8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8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8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8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8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8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8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8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8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8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0">
                <a:solidFill>
                  <a:srgbClr val="E8F0EA"/>
                </a:solidFill>
                <a:latin typeface="Apple SD Gothic Neo"/>
                <a:ea typeface="Apple SD Gothic Neo"/>
                <a:cs typeface="Apple SD Gothic Neo"/>
              </a:rPr>
              <a:t>기존 실제 계정 AI 흐름 확인 · V4 검수 5건 수정</a:t>
            </a:r>
          </a:p>
        </p:txBody>
      </p:sp>
    </p:spTree>
    <p:extLst>
      <p:ext uri="{BB962C8B-B14F-4D97-AF65-F5344CB8AC3E}">
        <p14:creationId xmlns:p14="http://schemas.microsoft.com/office/powerpoint/2010/main" val="1963413126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6F8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2160357-B0B6-48EB-B76D-371ACBE45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"/>
            <a:ext cx="10820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850" b="1">
                <a:solidFill>
                  <a:srgbClr val="121513"/>
                </a:solidFill>
                <a:latin typeface="Apple SD Gothic Neo"/>
                <a:ea typeface="Apple SD Gothic Neo"/>
                <a:cs typeface="Apple SD Gothic Neo"/>
              </a:rPr>
              <a:t>시연과 남은 경계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D51CE6F-9AEB-46A3-B88F-4CAAB3F14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33475"/>
            <a:ext cx="10820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rPr>
              <a:t>APK는 로컬 시연용 산출물이다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4B844BE-778D-4F19-9110-6C4697129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819275"/>
            <a:ext cx="3190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4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4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4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4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4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4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4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4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4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4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4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75" b="1">
                <a:solidFill>
                  <a:srgbClr val="207354"/>
                </a:solidFill>
                <a:latin typeface="Apple SD Gothic Neo"/>
                <a:ea typeface="Apple SD Gothic Neo"/>
                <a:cs typeface="Apple SD Gothic Neo"/>
              </a:rPr>
              <a:t>시연 순서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FF407CE-FDA4-4412-B057-C976A1DE9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495550"/>
            <a:ext cx="10572750" cy="1514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1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21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21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21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21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21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21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21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21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21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rPr>
              <a:t>과목 받기 → 카드·위젯 → 앱 문제</a:t>
            </a:r>
          </a:p>
          <a:p xmlns:a="http://schemas.openxmlformats.org/drawingml/2006/main">
            <a:pPr algn="l">
              <a:defRPr sz="21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rPr>
              <a:t>→ ChatGPT 연결 → 헷갈림·AI 카드</a:t>
            </a:r>
          </a:p>
          <a:p xmlns:a="http://schemas.openxmlformats.org/drawingml/2006/main">
            <a:pPr algn="l">
              <a:defRPr sz="21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rPr>
              <a:t>→ 확인 문제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D2D7A73-62E1-4E26-B648-3454242F7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629150"/>
            <a:ext cx="105727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800" b="1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800" b="1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800" b="1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800" b="1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800" b="1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800" b="1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800" b="1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800" b="1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800" b="1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800" b="1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rPr>
              <a:t>시연용 빌드는 대기 시간과 하루 한도를 단축한다.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84CEAAC-7782-4E8A-80F0-A7253A120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162550"/>
            <a:ext cx="105727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725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725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725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725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725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725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725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725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725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725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7211C"/>
                </a:solidFill>
                <a:latin typeface="Apple SD Gothic Neo"/>
                <a:ea typeface="Apple SD Gothic Neo"/>
                <a:cs typeface="Apple SD Gothic Neo"/>
              </a:rPr>
              <a:t>수행: 기획, 화면·Kotlin 구현, 자동 검증, APK 제작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AC12472-0C3F-443A-A269-9D74559D2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705475"/>
            <a:ext cx="105727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650" b="0">
                <a:solidFill>
                  <a:srgbClr val="52645B"/>
                </a:solidFill>
                <a:latin typeface="Apple SD Gothic Neo"/>
                <a:ea typeface="Apple SD Gothic Neo"/>
                <a:cs typeface="Apple SD Gothic Neo"/>
              </a:defRPr>
            </a:defPPr>
            <a:lvl1pPr algn="l">
              <a:defRPr sz="1650" b="0">
                <a:solidFill>
                  <a:srgbClr val="52645B"/>
                </a:solidFill>
                <a:latin typeface="Apple SD Gothic Neo"/>
                <a:ea typeface="Apple SD Gothic Neo"/>
                <a:cs typeface="Apple SD Gothic Neo"/>
              </a:defRPr>
            </a:lvl1pPr>
            <a:lvl2pPr algn="l">
              <a:defRPr sz="1650" b="0">
                <a:solidFill>
                  <a:srgbClr val="52645B"/>
                </a:solidFill>
                <a:latin typeface="Apple SD Gothic Neo"/>
                <a:ea typeface="Apple SD Gothic Neo"/>
                <a:cs typeface="Apple SD Gothic Neo"/>
              </a:defRPr>
            </a:lvl2pPr>
            <a:lvl3pPr algn="l">
              <a:defRPr sz="1650" b="0">
                <a:solidFill>
                  <a:srgbClr val="52645B"/>
                </a:solidFill>
                <a:latin typeface="Apple SD Gothic Neo"/>
                <a:ea typeface="Apple SD Gothic Neo"/>
                <a:cs typeface="Apple SD Gothic Neo"/>
              </a:defRPr>
            </a:lvl3pPr>
            <a:lvl4pPr algn="l">
              <a:defRPr sz="1650" b="0">
                <a:solidFill>
                  <a:srgbClr val="52645B"/>
                </a:solidFill>
                <a:latin typeface="Apple SD Gothic Neo"/>
                <a:ea typeface="Apple SD Gothic Neo"/>
                <a:cs typeface="Apple SD Gothic Neo"/>
              </a:defRPr>
            </a:lvl4pPr>
            <a:lvl5pPr algn="l">
              <a:defRPr sz="1650" b="0">
                <a:solidFill>
                  <a:srgbClr val="52645B"/>
                </a:solidFill>
                <a:latin typeface="Apple SD Gothic Neo"/>
                <a:ea typeface="Apple SD Gothic Neo"/>
                <a:cs typeface="Apple SD Gothic Neo"/>
              </a:defRPr>
            </a:lvl5pPr>
            <a:lvl6pPr algn="l">
              <a:defRPr sz="1650" b="0">
                <a:solidFill>
                  <a:srgbClr val="52645B"/>
                </a:solidFill>
                <a:latin typeface="Apple SD Gothic Neo"/>
                <a:ea typeface="Apple SD Gothic Neo"/>
                <a:cs typeface="Apple SD Gothic Neo"/>
              </a:defRPr>
            </a:lvl6pPr>
            <a:lvl7pPr algn="l">
              <a:defRPr sz="1650" b="0">
                <a:solidFill>
                  <a:srgbClr val="52645B"/>
                </a:solidFill>
                <a:latin typeface="Apple SD Gothic Neo"/>
                <a:ea typeface="Apple SD Gothic Neo"/>
                <a:cs typeface="Apple SD Gothic Neo"/>
              </a:defRPr>
            </a:lvl7pPr>
            <a:lvl8pPr algn="l">
              <a:defRPr sz="1650" b="0">
                <a:solidFill>
                  <a:srgbClr val="52645B"/>
                </a:solidFill>
                <a:latin typeface="Apple SD Gothic Neo"/>
                <a:ea typeface="Apple SD Gothic Neo"/>
                <a:cs typeface="Apple SD Gothic Neo"/>
              </a:defRPr>
            </a:lvl8pPr>
            <a:lvl9pPr algn="l">
              <a:defRPr sz="1650" b="0">
                <a:solidFill>
                  <a:srgbClr val="52645B"/>
                </a:solidFill>
                <a:latin typeface="Apple SD Gothic Neo"/>
                <a:ea typeface="Apple SD Gothic Neo"/>
                <a:cs typeface="Apple SD Gothic Neo"/>
              </a:defRPr>
            </a:lvl9pPr>
          </a:lstStyle>
          <a:p xmlns:a="http://schemas.openxmlformats.org/drawingml/2006/main">
            <a:pPr algn="l">
              <a:defRPr sz="1650" b="0">
                <a:solidFill>
                  <a:srgbClr val="52645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52645B"/>
                </a:solidFill>
                <a:latin typeface="Apple SD Gothic Neo"/>
                <a:ea typeface="Apple SD Gothic Neo"/>
                <a:cs typeface="Apple SD Gothic Neo"/>
              </a:rPr>
              <a:t>외부 다운로드 링크와 물리 기기별 확인은 아직 없다.</a:t>
            </a:r>
          </a:p>
        </p:txBody>
      </p:sp>
    </p:spTree>
    <p:extLst>
      <p:ext uri="{BB962C8B-B14F-4D97-AF65-F5344CB8AC3E}">
        <p14:creationId xmlns:p14="http://schemas.microsoft.com/office/powerpoint/2010/main" val="124533345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2026-10-19T02:41:03.0970000Z</dcterms:created>
  <dcterms:modified xsi:type="dcterms:W3CDTF">2026-10-19T02:41:03.0970000Z</dcterms:modified>
</coreProperties>
</file>