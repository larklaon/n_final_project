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틈지식은 자격증 기초 공부를 위한 안드로이드 앱입니다. 한 문장으로 말하면, 잠깐의 틈에 지식이 스쳐 가게 만드는 앱입니다. 지금 보시는 기울어진 민트 띠가 앱 안에서도 그대로 쓰이는 "틈"입니다.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공부를 해야겠다고 마음먹어도, 막상 책을 펴고 앉는 데까지 가는 게 가장 어렵습니다. 반대로 폰은 하루에도 셀 수 없이 켭니다. 이 별생각 없는 순간을 공부에 쓸 수 없을까, 여기서 출발했습니다.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공부하러 가지 않게 만들었습니다. 지식이 저절로 스쳐 가게요. 폰을 켤 때마다 아주 쉬운 조각 하나가 지나가고, 그 조각들이 퍼즐처럼 쌓입니다. 나중에 정말 각 잡고 공부할 때, 이미 주변 조각이 깔려 있으니 빈칸이 쉽게 메워진다는 게 이 앱의 의도입니다. 오른쪽 아이콘의 네 조각이 점점 진해지는 것도 그 의미입니다.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앞에서 지식은 퍼즐이라고 했습니다. 개념 하나가 조각 하나입니다. 판이 비어 있을 때 가운데 개념 하나를 공부하면, 이 물음표 칸이 어떤 모양인지 알 수 없습니다. 퍼즐은 주변부터 채워야 가운데가 보입니다. 틈지식이 그 주변 조각을 어떻게 깔아 두는지, 세 가지 길로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길은 앱 밖의 틈입니다. 왼쪽은 실제 갤럭시 A36 잠금 화면입니다. 폰을 켜면 시계 아래에 O/X 하나가 놓여 있고, 소리도 진동도 없습니다. 탭 한 번으로 답하면 앱을 열지 않아도 기록에 남고, 그 조각이 조금 선명해집니다. 가장 쉽고, 가장 자주 만나는 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길은 앱 안의 문제입니다. 앱을 열면 한 단계 깊은 상황형 문제가 하나씩 나오고, 어두운 화면 사이의 밝은 띠가 앱 이름의 틈입니다. 여기서 맞히면 조각이 크게 진해지고, 이 문제가 기대고 있는 옆 조각도 같이 선명해집니다. 하루씩 띄워서 다시 맞힐수록 조각은 덜 흐려집니다. 오른쪽이 실제 퍼즐 화면입니다. 앞에서 그림으로 본 조각들이 앱에서는 이렇게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길은 AI입니다. ChatGPT를 연결하고 맞춤 학습을 켜면, AI가 학습자가 자주 헷갈리는 지점을 기억합니다. 오답과 이 앱에서 나눈 대화에서 근거가 있는 헷갈림만 남기고, 그 헷갈림을 겨냥한 짧은 O/X 카드를 만들어 잠금 화면에 조금 섞습니다. 흐린 조각을 골라서 선명하게 만드는 셈입니다. 하루 뒤에는 다른 상황의 문제로 다시 확인하고, 두 번 맞히면 그 헷갈림은 해결된 것으로 지웁니다. 이 상태는 AI가 아니라 앱 규칙이 정합니다. AI가 만든 것에는 항상 AI 표시가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길을 지나면 판이 이렇게 됩니다. 여기저기 놓인 조각이 하나둘 이어지고, 가운데 칸을 둘러싼 조각이 다 놓였을 때는 그 모양이 이미 드러나 있습니다. 그래서 본격적으로 공부할 때 처음 보는 개념도 쉽게 맞춰집니다. 이것이 틈지식이 노리는 지점입니다.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과제의 두 기술 요소입니다. 위 흐름이 한 바퀴 돕니다. 학습 기록에서 AI가 헷갈림을 뽑고 카드를 만들면, 다른 AI 요청이 답을 모른 채 따로 검토합니다. 통과한 카드만 잠금 화면과 위젯에 들어가고, 그 답과 확인 문제 결과가 다시 기억을 바꿉니다. 이 기억이 Long-term Memory이고, 이 고리 전체가 자동화 워크플로우입니다.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기능을 모아 보면 이렇습니다. 앱 밖에는 잠금 화면 카드와 홈 위젯이, 앱 안에는 오늘의 문제와 해상도 퍼즐이 있습니다. ChatGPT를 연결하면 힌트와 해설, 7일 계획을 주는 AI 코치와 앞에서 본 맞춤 학습을 쓸 수 있습니다. 과목은 받아서 넣는 방식이라 자격증마다 늘릴 수 있고, 지금은 정보처리기사 기초와 SQLD 맛보기가 있습니다. 카드가 뜨지 않을 방해 금지 시간도 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시연은 이 순서로 보여 드리겠습니다. 과목을 받고, 잠금 화면 카드에 답하고, 앱에서 문제를 풉니다. 그다음 ChatGPT를 연결해 헷갈린 말을 한마디 하면, 앱이 그 헷갈림을 기억해 AI 카드를 만들고, 확인 문제로 다시 묻는 데까지 이어집니다. 시연 빌드는 기다리는 시간만 줄였습니다.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59000"/>
            <a:ext cx="60960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8F0EA"/>
                </a:solidFill>
                <a:latin typeface="Hahmlet" pitchFamily="34" charset="0"/>
                <a:ea typeface="Hahmlet" pitchFamily="34" charset="-122"/>
                <a:cs typeface="Hahmle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560961"/>
            <a:ext cx="10566400" cy="2484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159000"/>
            <a:ext cx="609600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E8F0EA"/>
                </a:solidFill>
                <a:latin typeface="Hahmlet" pitchFamily="34" charset="0"/>
                <a:ea typeface="Hahmlet" pitchFamily="34" charset="-122"/>
                <a:cs typeface="Hahmle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3560961"/>
            <a:ext cx="10566400" cy="2484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42722"/>
            <a:ext cx="12192000" cy="3178956"/>
          </a:xfrm>
          <a:prstGeom prst="rect">
            <a:avLst/>
          </a:prstGeom>
          <a:solidFill>
            <a:srgbClr val="E8F0EA"/>
          </a:solidFill>
          <a:ln/>
        </p:spPr>
      </p:sp>
      <p:pic>
        <p:nvPicPr>
          <p:cNvPr id="3" name="Image 0" descr="틈지식 앱 아이콘: 잉크 바탕에 연민트에서 민트로 진해지는 기울어진 조각 네 개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711200"/>
            <a:ext cx="711200" cy="711200"/>
          </a:xfrm>
          <a:prstGeom prst="roundRect">
            <a:avLst>
              <a:gd name="adj" fmla="val 23214"/>
            </a:avLst>
          </a:prstGeom>
        </p:spPr>
      </p:pic>
      <p:sp>
        <p:nvSpPr>
          <p:cNvPr id="4" name="Text 1"/>
          <p:cNvSpPr/>
          <p:nvPr/>
        </p:nvSpPr>
        <p:spPr>
          <a:xfrm>
            <a:off x="1727200" y="863600"/>
            <a:ext cx="58864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자격증 기초 학습 앱 · Android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667000"/>
            <a:ext cx="91567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0"/>
              </a:lnSpc>
              <a:buNone/>
            </a:pPr>
            <a:r>
              <a:rPr lang="en-US" sz="10000" b="1" i="0" spc="-200" kern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틈지식</a:t>
            </a:r>
            <a:endParaRPr lang="en-US" sz="10000" dirty="0"/>
          </a:p>
        </p:txBody>
      </p:sp>
      <p:sp>
        <p:nvSpPr>
          <p:cNvPr id="6" name="Text 3"/>
          <p:cNvSpPr/>
          <p:nvPr/>
        </p:nvSpPr>
        <p:spPr>
          <a:xfrm>
            <a:off x="863600" y="4114800"/>
            <a:ext cx="91567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207354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잠깐의 틈에 스치는 지식.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12800" y="5715000"/>
            <a:ext cx="78486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송영준 · 김혜민 · 이관주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0261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문제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56259"/>
            <a:ext cx="10883392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공부는</a:t>
            </a:r>
            <a:endParaRPr lang="en-US" sz="4800" dirty="0"/>
          </a:p>
          <a:p>
            <a:pPr algn="l" indent="0" marL="0">
              <a:lnSpc>
                <a:spcPts val="5760"/>
              </a:lnSpc>
              <a:buNone/>
            </a:pPr>
            <a:r>
              <a:rPr lang="en-US" sz="48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시작이 제일 어렵다.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223941"/>
            <a:ext cx="8502650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책상에 앉아 각을 잡는 데까지 쉽게 가지 못한다.</a:t>
            </a:r>
            <a:endParaRPr lang="en-US" sz="1800" dirty="0"/>
          </a:p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그런데 폰은 하루에도 몇 번씩, 별생각 없이 켠다.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0522"/>
            <a:ext cx="12192000" cy="4194956"/>
          </a:xfrm>
          <a:prstGeom prst="rect">
            <a:avLst/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3924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905000"/>
            <a:ext cx="719455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공부하러 가지 않는다.</a:t>
            </a:r>
            <a:endParaRPr lang="en-US" sz="4400" dirty="0"/>
          </a:p>
          <a:p>
            <a:pPr algn="l" indent="0" marL="0">
              <a:lnSpc>
                <a:spcPts val="5500"/>
              </a:lnSpc>
              <a:buNone/>
            </a:pPr>
            <a:r>
              <a:rPr lang="en-US" sz="44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지식이 스쳐 간다.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12800" y="3556000"/>
            <a:ext cx="6540500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폰을 켤 때마다 지식 조각 하나. 조각이 쌓이면,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막상 공부할 때 빈칸이 쉽게 메워진다.</a:t>
            </a:r>
            <a:endParaRPr lang="en-US" sz="1700" dirty="0"/>
          </a:p>
        </p:txBody>
      </p:sp>
      <p:pic>
        <p:nvPicPr>
          <p:cNvPr id="6" name="Image 0" descr="잉크 바탕 위에 연민트에서 민트로 점점 진해지는 기울어진 퍼즐 조각 네 개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31200" y="2159000"/>
            <a:ext cx="3048000" cy="1651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5588000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지식은 퍼즐이다. 주변 조각이 많을수록 본격적인 공부가 쉬워진다.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9000"/>
            <a:ext cx="45783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지식은 퍼즐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0000"/>
            <a:ext cx="497078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조각 없이 시작하면,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막막하다.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49707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개념 하나가 조각 하나.</a:t>
            </a:r>
            <a:endParaRPr lang="en-US" sz="1600" dirty="0"/>
          </a:p>
        </p:txBody>
      </p:sp>
      <p:pic>
        <p:nvPicPr>
          <p:cNvPr id="5" name="Image 0" descr="빈 퍼즐판: 가운데 물음표 칸 주변에 조각이 하나도 없다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53200" y="101600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7091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올리는 법 1 · 틈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641"/>
            <a:ext cx="470916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폰을 켜면,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O/X 하나.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66802"/>
            <a:ext cx="470916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잠금 화면 카드와 홈 위젯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096022"/>
            <a:ext cx="470916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소리·진동 없이 놓여 있다가, 탭 한 번으로 답한다.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답할 때마다 그 조각이 조금씩 선명해진다.</a:t>
            </a:r>
            <a:endParaRPr lang="en-US" sz="1500" dirty="0"/>
          </a:p>
        </p:txBody>
      </p:sp>
      <p:pic>
        <p:nvPicPr>
          <p:cNvPr id="6" name="Image 0" descr="갤럭시 A36 잠금 화면: 시계 아래 틈지식 카드에 짧은 O/X 문장과 O, X 버튼">    </p:cNvPr>
          <p:cNvPicPr>
            <a:picLocks noChangeAspect="1"/>
          </p:cNvPicPr>
          <p:nvPr/>
        </p:nvPicPr>
        <p:blipFill>
          <a:blip r:embed="rId1"/>
          <a:srcRect l="264" r="264" t="0" b="0"/>
          <a:stretch/>
        </p:blipFill>
        <p:spPr>
          <a:xfrm>
            <a:off x="6159500" y="1022350"/>
            <a:ext cx="2209800" cy="4813300"/>
          </a:xfrm>
          <a:prstGeom prst="roundRect">
            <a:avLst>
              <a:gd name="adj" fmla="val 1092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153150" y="1016000"/>
            <a:ext cx="2222500" cy="4826000"/>
          </a:xfrm>
          <a:prstGeom prst="roundRect">
            <a:avLst>
              <a:gd name="adj" fmla="val 11143"/>
            </a:avLst>
          </a:prstGeom>
          <a:noFill/>
          <a:ln w="12700">
            <a:solidFill>
              <a:srgbClr val="2A302C"/>
            </a:solidFill>
            <a:prstDash val="solid"/>
          </a:ln>
        </p:spPr>
      </p:sp>
      <p:pic>
        <p:nvPicPr>
          <p:cNvPr id="8" name="Image 1" descr="홈 화면 위젯: 개념 설명과 용어 네 개 중 하나를 고르는 문제">    </p:cNvPr>
          <p:cNvPicPr>
            <a:picLocks noChangeAspect="1"/>
          </p:cNvPicPr>
          <p:nvPr/>
        </p:nvPicPr>
        <p:blipFill>
          <a:blip r:embed="rId2"/>
          <a:srcRect l="0" r="0" t="37" b="37"/>
          <a:stretch/>
        </p:blipFill>
        <p:spPr>
          <a:xfrm>
            <a:off x="8648700" y="2171700"/>
            <a:ext cx="2717800" cy="2514600"/>
          </a:xfrm>
          <a:prstGeom prst="roundRect">
            <a:avLst>
              <a:gd name="adj" fmla="val 7576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8642350" y="2165350"/>
            <a:ext cx="2730500" cy="2527300"/>
          </a:xfrm>
          <a:prstGeom prst="roundRect">
            <a:avLst>
              <a:gd name="adj" fmla="val 7789"/>
            </a:avLst>
          </a:prstGeom>
          <a:noFill/>
          <a:ln w="12700">
            <a:solidFill>
              <a:srgbClr val="2A302C"/>
            </a:solidFill>
            <a:prstDash val="solid"/>
          </a:ln>
        </p:spPr>
      </p:sp>
      <p:pic>
        <p:nvPicPr>
          <p:cNvPr id="10" name="Image 2" descr="퍼즐판 여기저기에 조각 몇 개가 놓였다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3180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97078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2073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올리는 법 2 · 앱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641"/>
            <a:ext cx="497078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앱을 열면,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한 단계 깊게.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66802"/>
            <a:ext cx="4970780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하루 3·5·10문제의 상황형 문제.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맞히면 조각이 크게 진해지고,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옆 조각까지 함께 선명해진다.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651052"/>
            <a:ext cx="49707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하루씩 띄워 다시 맞힐수록 덜 흐려진다.</a:t>
            </a:r>
            <a:endParaRPr lang="en-US" sz="1500" dirty="0"/>
          </a:p>
        </p:txBody>
      </p:sp>
      <p:pic>
        <p:nvPicPr>
          <p:cNvPr id="6" name="Image 0" descr="문제 화면: 어두운 바탕 사이 밝은 띠 안에 데이터베이스 상황형 문제와 보기 네 개">    </p:cNvPr>
          <p:cNvPicPr>
            <a:picLocks noChangeAspect="1"/>
          </p:cNvPicPr>
          <p:nvPr/>
        </p:nvPicPr>
        <p:blipFill>
          <a:blip r:embed="rId1"/>
          <a:srcRect l="323" r="323" t="0" b="0"/>
          <a:stretch/>
        </p:blipFill>
        <p:spPr>
          <a:xfrm>
            <a:off x="6794500" y="1028700"/>
            <a:ext cx="2146300" cy="4800600"/>
          </a:xfrm>
          <a:prstGeom prst="roundRect">
            <a:avLst>
              <a:gd name="adj" fmla="val 11243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6788150" y="1022350"/>
            <a:ext cx="2159000" cy="4813300"/>
          </a:xfrm>
          <a:prstGeom prst="roundRect">
            <a:avLst>
              <a:gd name="adj" fmla="val 11471"/>
            </a:avLst>
          </a:prstGeom>
          <a:noFill/>
          <a:ln w="12700">
            <a:solidFill>
              <a:srgbClr val="C9D6CD"/>
            </a:solidFill>
            <a:prstDash val="solid"/>
          </a:ln>
        </p:spPr>
      </p:sp>
      <p:pic>
        <p:nvPicPr>
          <p:cNvPr id="8" name="Image 1" descr="퍼즐 화면: 과목 평균 해상도와 영역별 조각이 흐린 색부터 민트까지 칠해진 모습">    </p:cNvPr>
          <p:cNvPicPr>
            <a:picLocks noChangeAspect="1"/>
          </p:cNvPicPr>
          <p:nvPr/>
        </p:nvPicPr>
        <p:blipFill>
          <a:blip r:embed="rId2"/>
          <a:srcRect l="323" r="323" t="0" b="0"/>
          <a:stretch/>
        </p:blipFill>
        <p:spPr>
          <a:xfrm>
            <a:off x="9220200" y="1028700"/>
            <a:ext cx="2146300" cy="4800600"/>
          </a:xfrm>
          <a:prstGeom prst="roundRect">
            <a:avLst>
              <a:gd name="adj" fmla="val 11243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9213850" y="1022350"/>
            <a:ext cx="2159000" cy="4813300"/>
          </a:xfrm>
          <a:prstGeom prst="roundRect">
            <a:avLst>
              <a:gd name="adj" fmla="val 11471"/>
            </a:avLst>
          </a:prstGeom>
          <a:noFill/>
          <a:ln w="12700">
            <a:solidFill>
              <a:srgbClr val="C9D6CD"/>
            </a:solidFill>
            <a:prstDash val="solid"/>
          </a:ln>
        </p:spPr>
      </p:sp>
      <p:pic>
        <p:nvPicPr>
          <p:cNvPr id="10" name="Image 2" descr="조각이 늘어 판의 절반쯤이 찼다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3180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3632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올리는 법 3 · AI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9441"/>
            <a:ext cx="536321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AI가 헷갈림을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기억한다.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17577"/>
            <a:ext cx="5207000" cy="0"/>
          </a:xfrm>
          <a:prstGeom prst="line">
            <a:avLst/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96952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8DEB6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2623542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오답과 대화에서 헷갈린 점을 찾아 근거와 함께 남긴다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996307"/>
            <a:ext cx="5207000" cy="0"/>
          </a:xfrm>
          <a:prstGeom prst="line">
            <a:avLst/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075682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8DEB6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0000" y="3102273"/>
            <a:ext cx="39735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헷갈림만 겨냥한 O/X 카드를 틈에 섞는다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475038"/>
            <a:ext cx="5207000" cy="0"/>
          </a:xfrm>
          <a:prstGeom prst="line">
            <a:avLst/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" y="3953768"/>
            <a:ext cx="5207000" cy="0"/>
          </a:xfrm>
          <a:prstGeom prst="line">
            <a:avLst/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554413"/>
            <a:ext cx="3556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78DEB6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000" y="3581003"/>
            <a:ext cx="4749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8F0E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하루 뒤 다른 문제로 다시 묻고, 맞히면 헷갈림을 지운다</a:t>
            </a:r>
            <a:endParaRPr lang="en-US" sz="1500" dirty="0"/>
          </a:p>
        </p:txBody>
      </p:sp>
      <p:pic>
        <p:nvPicPr>
          <p:cNvPr id="14" name="Image 0" descr="개념 화면: 기본키 설명 아래 AI가 정리한 자주 헷갈린 점과 나아지는 중 상태">    </p:cNvPr>
          <p:cNvPicPr>
            <a:picLocks noChangeAspect="1"/>
          </p:cNvPicPr>
          <p:nvPr/>
        </p:nvPicPr>
        <p:blipFill>
          <a:blip r:embed="rId1"/>
          <a:srcRect l="323" r="323" t="0" b="0"/>
          <a:stretch/>
        </p:blipFill>
        <p:spPr>
          <a:xfrm>
            <a:off x="6794500" y="1028700"/>
            <a:ext cx="2146300" cy="4800600"/>
          </a:xfrm>
          <a:prstGeom prst="roundRect">
            <a:avLst>
              <a:gd name="adj" fmla="val 11243"/>
            </a:avLst>
          </a:prstGeom>
        </p:spPr>
      </p:pic>
      <p:sp>
        <p:nvSpPr>
          <p:cNvPr id="15" name="Shape 12"/>
          <p:cNvSpPr/>
          <p:nvPr/>
        </p:nvSpPr>
        <p:spPr>
          <a:xfrm>
            <a:off x="6788150" y="1022350"/>
            <a:ext cx="2159000" cy="4813300"/>
          </a:xfrm>
          <a:prstGeom prst="roundRect">
            <a:avLst>
              <a:gd name="adj" fmla="val 11471"/>
            </a:avLst>
          </a:prstGeom>
          <a:noFill/>
          <a:ln w="12700">
            <a:solidFill>
              <a:srgbClr val="2A302C"/>
            </a:solidFill>
            <a:prstDash val="solid"/>
          </a:ln>
        </p:spPr>
      </p:sp>
      <p:pic>
        <p:nvPicPr>
          <p:cNvPr id="16" name="Image 1" descr="AI 표시가 붙은 O/X 카드를 다시 푸는 화면">    </p:cNvPr>
          <p:cNvPicPr>
            <a:picLocks noChangeAspect="1"/>
          </p:cNvPicPr>
          <p:nvPr/>
        </p:nvPicPr>
        <p:blipFill>
          <a:blip r:embed="rId2"/>
          <a:srcRect l="323" r="323" t="0" b="0"/>
          <a:stretch/>
        </p:blipFill>
        <p:spPr>
          <a:xfrm>
            <a:off x="9220200" y="1028700"/>
            <a:ext cx="2146300" cy="4800600"/>
          </a:xfrm>
          <a:prstGeom prst="roundRect">
            <a:avLst>
              <a:gd name="adj" fmla="val 11243"/>
            </a:avLst>
          </a:prstGeom>
        </p:spPr>
      </p:pic>
      <p:sp>
        <p:nvSpPr>
          <p:cNvPr id="17" name="Shape 13"/>
          <p:cNvSpPr/>
          <p:nvPr/>
        </p:nvSpPr>
        <p:spPr>
          <a:xfrm>
            <a:off x="9213850" y="1022350"/>
            <a:ext cx="2159000" cy="4813300"/>
          </a:xfrm>
          <a:prstGeom prst="roundRect">
            <a:avLst>
              <a:gd name="adj" fmla="val 11471"/>
            </a:avLst>
          </a:prstGeom>
          <a:noFill/>
          <a:ln w="12700">
            <a:solidFill>
              <a:srgbClr val="2A302C"/>
            </a:solidFill>
            <a:prstDash val="solid"/>
          </a:ln>
        </p:spPr>
      </p:sp>
      <p:pic>
        <p:nvPicPr>
          <p:cNvPr id="18" name="Image 2" descr="물음표 칸을 둘러싼 조각이 모두 놓여 빈칸의 모양이 드러났다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43180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9000"/>
            <a:ext cx="45783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 결과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0000"/>
            <a:ext cx="4970780" cy="1122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막상 공부할 때,</a:t>
            </a:r>
            <a:endParaRPr lang="en-US" sz="3600" dirty="0"/>
          </a:p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빈칸이 쉽게 메워진다.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49707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주변이 채워지면 가운데가 보인다.</a:t>
            </a:r>
            <a:endParaRPr lang="en-US" sz="1600" dirty="0"/>
          </a:p>
        </p:txBody>
      </p:sp>
      <p:pic>
        <p:nvPicPr>
          <p:cNvPr id="5" name="Image 0" descr="가운데 칸까지 새 조각이 맞춰져 퍼즐이 완성되었다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53200" y="1016000"/>
            <a:ext cx="4826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기술 요소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17241"/>
            <a:ext cx="10883392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E8F0EA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기억이 다음 카드를 바꾼다.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E8F0EA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학습 기록</a:t>
            </a:r>
            <a:endParaRPr lang="en-US" sz="14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73300" y="2513112"/>
            <a:ext cx="279400" cy="152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543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E8F0EA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추출·생성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14800" y="2513112"/>
            <a:ext cx="279400" cy="152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8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E8F0EA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별도 검토</a:t>
            </a:r>
            <a:endParaRPr lang="en-US" sz="14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6300" y="2513112"/>
            <a:ext cx="279400" cy="152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373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C2E9D7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잠금 화면·위젯</a:t>
            </a:r>
            <a:endParaRPr lang="en-US" sz="1400" dirty="0"/>
          </a:p>
        </p:txBody>
      </p:sp>
      <p:pic>
        <p:nvPicPr>
          <p:cNvPr id="1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97800" y="2513112"/>
            <a:ext cx="279400" cy="152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788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9CE2C6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확인 문제</a:t>
            </a:r>
            <a:endParaRPr lang="en-US" sz="1400" dirty="0"/>
          </a:p>
        </p:txBody>
      </p:sp>
      <p:pic>
        <p:nvPicPr>
          <p:cNvPr id="13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639300" y="2513112"/>
            <a:ext cx="279400" cy="152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20300" y="2321421"/>
            <a:ext cx="1358900" cy="535880"/>
          </a:xfrm>
          <a:prstGeom prst="roundRect">
            <a:avLst>
              <a:gd name="adj" fmla="val 14220"/>
            </a:avLst>
          </a:prstGeom>
          <a:solidFill>
            <a:srgbClr val="78DEB6"/>
          </a:solidFill>
          <a:ln/>
        </p:spPr>
        <p:txBody>
          <a:bodyPr wrap="square" lIns="28482" tIns="130082" rIns="28482" bIns="1046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기억 갱신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815975" y="3216077"/>
            <a:ext cx="5149850" cy="1423591"/>
          </a:xfrm>
          <a:prstGeom prst="roundRect">
            <a:avLst>
              <a:gd name="adj" fmla="val 6914"/>
            </a:avLst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1073150" y="3473252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Long-term Memory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073150" y="3849092"/>
            <a:ext cx="47745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학습자·과목·개념별 헷갈림을 근거와 함께 SQLite에 남기고,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다음 카드·확인 문제·7일 계획에 다시 쓴다.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226175" y="3216077"/>
            <a:ext cx="5149850" cy="1423591"/>
          </a:xfrm>
          <a:prstGeom prst="roundRect">
            <a:avLst>
              <a:gd name="adj" fmla="val 6914"/>
            </a:avLst>
          </a:prstGeom>
          <a:noFill/>
          <a:ln w="6350">
            <a:solidFill>
              <a:srgbClr val="2A302C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483350" y="3473252"/>
            <a:ext cx="477456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자동화 워크플로우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483350" y="3849092"/>
            <a:ext cx="47745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기록에서 카드, 앱 밖 응답, 확인 문제, 기억 갱신까지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흐름으로 이어진다. 앱이 열려 있지 않아도 카드는 돈다.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20735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17241"/>
            <a:ext cx="10883392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한눈에 보는 기능.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321421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5" name="Image 0" descr="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52462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000" y="2880221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잠금 화면 카드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3200202"/>
            <a:ext cx="2184527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폰을 켤 때마다 O/X 하나,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탭 한 번으로 답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92500" y="2321421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9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95700" y="2524621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95700" y="2880221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홈 위젯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95700" y="3200202"/>
            <a:ext cx="23241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크기에 따라 O/X·4지선다·3지선다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2321421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13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5400" y="2524621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5400" y="2880221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오늘의 문제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75400" y="3200202"/>
            <a:ext cx="2184527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하루 3·5·10문제,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 단계 깊은 상황형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51900" y="2321421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17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5100" y="2524621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5100" y="2880221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해상도 퍼즐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55100" y="3200202"/>
            <a:ext cx="2184527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맞히면 선명해지고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시간이 지나면 흐려진다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12800" y="3997722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21" name="Image 4" descr="Cha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6000" y="4200922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16000" y="4556522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코치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016000" y="4876502"/>
            <a:ext cx="2184527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힌트·해설, 본문 골라 묻기,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7일 계획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492500" y="3997722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25" name="Image 5" descr="Lightbulb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3695700" y="4200922"/>
            <a:ext cx="279400" cy="279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95700" y="4556522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AI 맞춤 학습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3695700" y="4876502"/>
            <a:ext cx="2184527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헷갈림 기억, 맞춤 카드, 확인 문제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72200" y="3997722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29" name="Image 6" descr="GraduationCap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75400" y="4200922"/>
            <a:ext cx="279400" cy="2794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375400" y="4556522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과목 받기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6375400" y="4876502"/>
            <a:ext cx="2184527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공부할 자격증 과목을 골라 시작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8851900" y="3997722"/>
            <a:ext cx="2527300" cy="1523901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</p:spPr>
      </p:sp>
      <p:pic>
        <p:nvPicPr>
          <p:cNvPr id="33" name="Image 7" descr="Clock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55100" y="4200922"/>
            <a:ext cx="279400" cy="2794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055100" y="4556522"/>
            <a:ext cx="218452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1513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방해 금지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9055100" y="4876502"/>
            <a:ext cx="2184527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3443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카드가 뜨지 않는 시간, 1분 단위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5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85522"/>
            <a:ext cx="12192000" cy="2924956"/>
          </a:xfrm>
          <a:prstGeom prst="rect">
            <a:avLst/>
          </a:prstGeom>
          <a:solidFill>
            <a:srgbClr val="E8F0E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762000"/>
            <a:ext cx="39243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78DEB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시연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413000"/>
            <a:ext cx="9810750" cy="154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잠깐의 틈에</a:t>
            </a:r>
            <a:endParaRPr lang="en-US" sz="5200" dirty="0"/>
          </a:p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121513"/>
                </a:solidFill>
                <a:latin typeface="Hahmlet" pitchFamily="18" charset="0"/>
                <a:ea typeface="Hahmlet" pitchFamily="18" charset="-122"/>
                <a:cs typeface="Hahmlet" pitchFamily="18" charset="-120"/>
              </a:rPr>
              <a:t>스치는 지식.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5207000"/>
            <a:ext cx="108833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9B5A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과목 받기 → 잠금 화면 카드 → 앱 문제 → ChatGPT 연결 → 헷갈린 점 → AI 카드 → 확인 문제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틈지식 발표">
  <a:themeElements>
    <a:clrScheme name="틈지식 발표">
      <a:dk1>
        <a:srgbClr val="121513"/>
      </a:dk1>
      <a:lt1>
        <a:srgbClr val="E8F0EA"/>
      </a:lt1>
      <a:dk2>
        <a:srgbClr val="272B29"/>
      </a:dk2>
      <a:lt2>
        <a:srgbClr val="B3B9B4"/>
      </a:lt2>
      <a:accent1>
        <a:srgbClr val="78DEB6"/>
      </a:accent1>
      <a:accent2>
        <a:srgbClr val="207354"/>
      </a:accent2>
      <a:accent3>
        <a:srgbClr val="C2E9D7"/>
      </a:accent3>
      <a:accent4>
        <a:srgbClr val="9CE2C6"/>
      </a:accent4>
      <a:accent5>
        <a:srgbClr val="33443B"/>
      </a:accent5>
      <a:accent6>
        <a:srgbClr val="A9B5AE"/>
      </a:accent6>
      <a:hlink>
        <a:srgbClr val="0563C1"/>
      </a:hlink>
      <a:folHlink>
        <a:srgbClr val="954F72"/>
      </a:folHlink>
    </a:clrScheme>
    <a:fontScheme name="틈지식 발표">
      <a:majorFont>
        <a:latin typeface="Hahmle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틈지식 발표</dc:title>
  <dc:subject/>
  <dc:creator/>
  <cp:lastModifiedBy/>
  <cp:revision>1</cp:revision>
  <dcterms:created xsi:type="dcterms:W3CDTF">2026-10-19T14:13:47Z</dcterms:created>
  <dcterms:modified xsi:type="dcterms:W3CDTF">2026-10-19T14:13:47Z</dcterms:modified>
</cp:coreProperties>
</file>